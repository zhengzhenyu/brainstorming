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13E">
              <a:alpha val="60000"/>
            </a:srgbClr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4F46E5">
              <a:alpha val="15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AI Native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A5B4FC"/>
                </a:solidFill>
              </a:rPr>
              <a:t>开源社区战略规划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2026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201168" cy="20116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33649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可发现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0" y="338328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67712" y="33649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可应用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3383280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9312" y="33649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可共建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服务 AI 时代的开发者 · 降低贡献门槛 · 建设可持续社区生态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2026年2月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目录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 Native 社区规划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本次规划覆盖四个核心模块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目录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64008" cy="7132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270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3460"/>
                </a:solidFill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1508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背景与核心理念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181051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AI 辅助编程趋势 · 重新定义 AI Native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58568"/>
            <a:ext cx="64008" cy="7132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682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F46E5"/>
                </a:solidFill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2350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三大支柱战略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26517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可发现 · 可应用 · 可共建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99816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99816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2095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25880" y="31912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成熟度模型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34930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五维度评估体系 · 判断标准 · 测量方法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941064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941064"/>
            <a:ext cx="64008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0507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97706"/>
                </a:solidFill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325880" y="40325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2026年路线图与 KPI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25880" y="433425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季度行动 · 北极星指标 · 里程碑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13E">
              <a:alpha val="60000"/>
            </a:srgbClr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背景与核心理念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5B4FC"/>
                </a:solidFill>
              </a:rPr>
              <a:t>AI 辅助编程趋势 · 重新定义 AI Native 社区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背景 · AI 编程渗透趋势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 Native 社区规划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645920" cy="256032"/>
          </a:xfrm>
          <a:prstGeom prst="rect">
            <a:avLst>
              <a:gd name="adj" fmla="val 17857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  背景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AI 辅助编程已成开发者标配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64008" cy="13716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481328"/>
            <a:ext cx="22860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F46E5"/>
                </a:solidFill>
              </a:rPr>
              <a:t>76%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2167128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全球开发者正在使用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或计划使用 AI 编程工具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（2024年）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55848" y="13716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55848" y="1371600"/>
            <a:ext cx="64008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38728" y="1481328"/>
            <a:ext cx="22860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~50%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38728" y="2167128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当前代码由 AI 辅助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生成的平均比例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（2025年）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54496" y="13716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4496" y="1371600"/>
            <a:ext cx="64008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1481328"/>
            <a:ext cx="22860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97706"/>
                </a:solidFill>
              </a:rPr>
              <a:t>-40%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37376" y="2167128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使用 AI 工具后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上手新代码库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所需时间缩短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82296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3017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AI 编程工具演进阶段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371600" y="3364992"/>
            <a:ext cx="256032" cy="25603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0" y="3493008"/>
            <a:ext cx="100584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6576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2021-23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38587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代码补全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" y="40965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单行/片段补全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辅助性强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29000" y="3364992"/>
            <a:ext cx="256032" cy="25603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03320" y="3493008"/>
            <a:ext cx="100584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51760" y="36576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2023-24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51760" y="38587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对话式编程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51760" y="40965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局部功能生成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Chat-based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0" y="336499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60720" y="3493008"/>
            <a:ext cx="100584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36576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2024-25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09160" y="38587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Agentic编程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09160" y="40965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多文件修改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自动运行测试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543800" y="3364992"/>
            <a:ext cx="256032" cy="25603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6560" y="36576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2026+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66560" y="38587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自主工程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66560" y="40965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端到端开发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人类担任Reviewer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背景 · 核心理念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 Native 社区规划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645920" cy="256032"/>
          </a:xfrm>
          <a:prstGeom prst="rect">
            <a:avLst>
              <a:gd name="adj" fmla="val 17857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  理念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重新定义 "AI Native 开源社区"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840480" cy="32918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36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❌  常见误解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91B1B"/>
                </a:solidFill>
              </a:rPr>
              <a:t>专注研究和开发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991B1B"/>
                </a:solidFill>
              </a:rPr>
              <a:t>AI 工具本身的社区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269748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• 社区变成 AI 工具讨论区
</a:t>
            </a:r>
            <a:pPr algn="l"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• 开源项目本身被边缘化
</a:t>
            </a:r>
            <a:pPr algn="l"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• 偏离服务开发者的核心使命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417320"/>
            <a:ext cx="3840480" cy="32918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536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✅  正确方向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1920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532D"/>
                </a:solidFill>
              </a:rPr>
              <a:t>让社区对 AI 时代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4532D"/>
                </a:solidFill>
              </a:rPr>
              <a:t>开发者全面友好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83480" y="269748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• 项目文档让 AI 工具能准确理解
</a:t>
            </a:r>
            <a:pPr algn="l"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• 贡献流程适配 AI 辅助开发方式
</a:t>
            </a:r>
            <a:pPr algn="l"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• 吸引 AI 时代的新一代开发者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60520" y="28346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75569"/>
                </a:solidFill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13E">
              <a:alpha val="60000"/>
            </a:srgbClr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三大支柱战略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5B4FC"/>
                </a:solidFill>
              </a:rPr>
              <a:t>可发现 · 可应用 · 可共建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战略 · 三大支柱概览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 Native 社区规划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645920" cy="256032"/>
          </a:xfrm>
          <a:prstGeom prst="rect">
            <a:avLst>
              <a:gd name="adj" fmla="val 1785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  战略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三大支柱：以开发者为核心的 AI Native 路径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26060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17320"/>
            <a:ext cx="2606040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0180" y="1554480"/>
            <a:ext cx="640080" cy="6400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40180" y="157276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2286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可发现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26974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社区项目对 AI 工具友好，开发者使用 Cursor/Copilot 时能准确发现并理解项目。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关键行动：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补全 CLAUDE.md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文档站结构化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llms.txt 协议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GitHub Topics 规范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64408" y="1417320"/>
            <a:ext cx="26060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64408" y="1417320"/>
            <a:ext cx="26060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47388" y="155448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47388" y="157276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401568" y="2286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可应用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01568" y="26974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AI 工具帮助开发者降低贡献门槛，从理解代码到提交 PR 全流程有 AI 辅助。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关键行动：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GFI 质量升级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AI Review Bot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新手引导页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Prompt 模板库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80760" y="1417320"/>
            <a:ext cx="26060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417320"/>
            <a:ext cx="260604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63740" y="1554480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63740" y="157276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217920" y="2286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可共建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17920" y="26974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持续吸引 AI 时代的新一代开发者，形成多元健康的贡献者生态。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关键行动：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AI 贡献政策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Hackathon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Buddy 计划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多元认可体系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战略 · 可发现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 Native 社区规划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645920" cy="256032"/>
          </a:xfrm>
          <a:prstGeom prst="rect">
            <a:avLst>
              <a:gd name="adj" fmla="val 17857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🔍  可发现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可发现：让项目对 AI 工具友好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393192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AI 工具的信息来源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1874520"/>
            <a:ext cx="3657600" cy="548640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98424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📚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011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训练数据（静态，有时效性问题）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2532888"/>
            <a:ext cx="3657600" cy="548640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4261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2670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RAG 检索（GitHub、文档站点）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3191256"/>
            <a:ext cx="3657600" cy="548640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30098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33284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Web Search（依赖 SEO 和结构化）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3849624"/>
            <a:ext cx="3657600" cy="548640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95935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39867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项目内文件（CLAUDE.md、README）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137160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371600"/>
            <a:ext cx="402336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社区核心建设项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1874520"/>
            <a:ext cx="3749040" cy="804672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1874520"/>
            <a:ext cx="54864" cy="8046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192938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</a:rPr>
              <a:t>Q1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19472" y="192938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CLAUDE.md 全覆盖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919472" y="22219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为所有核心项目补全 AI 上下文文件，包含架构说明、编码约定、禁止事项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2788920"/>
            <a:ext cx="3749040" cy="804672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2788920"/>
            <a:ext cx="54864" cy="8046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284378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</a:rPr>
              <a:t>Q2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19472" y="284378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文档站结构化优化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919472" y="31363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高密度内容（少空话多步骤），Markdown 规范结构，适配 AI 检索偏好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3703320"/>
            <a:ext cx="3749040" cy="804672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3703320"/>
            <a:ext cx="54864" cy="8046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0" y="375818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</a:rPr>
              <a:t>Q4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19472" y="375818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llms.txt 协议部署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919472" y="40507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类似 robots.txt，专为 LLM 设计，告知 AI 如何正确引用社区内容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战略 · 可应用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 Native 社区规划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645920" cy="256032"/>
          </a:xfrm>
          <a:prstGeom prst="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⚙️  可应用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可应用：用 AI 打通贡献全流程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463040"/>
            <a:ext cx="1463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63040"/>
            <a:ext cx="146304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600200"/>
            <a:ext cx="640080" cy="6400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1848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理解项目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6517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AI IDE + CLAUDE.md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30 分钟上手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01368" y="21031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039112" y="1463040"/>
            <a:ext cx="1463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39112" y="1463040"/>
            <a:ext cx="14630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50592" y="160020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50592" y="161848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084832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寻找任务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84832" y="26517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AI 推荐 GFI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任务描述清晰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20440" y="21031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758184" y="1463040"/>
            <a:ext cx="1463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58184" y="1463040"/>
            <a:ext cx="146304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69664" y="1600200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69664" y="161848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803904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开发实现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03904" y="26517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AI 辅助编码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基于项目约定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39512" y="21031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77256" y="1463040"/>
            <a:ext cx="1463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77256" y="1463040"/>
            <a:ext cx="14630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88736" y="160020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88736" y="161848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522976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提交 PR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22976" y="26517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AI 生成 PR 描述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符合社区规范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58584" y="21031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196328" y="1463040"/>
            <a:ext cx="1463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196328" y="1463040"/>
            <a:ext cx="146304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07808" y="1600200"/>
            <a:ext cx="640080" cy="64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07808" y="161848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7242048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获得 Review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42048" y="26517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AI Review Bot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初审 &lt; 48h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39319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65F46"/>
                </a:solidFill>
              </a:rPr>
              <a:t>💡  关键洞察：Good First Issue 的质量不只影响人——AI 对 Issue 的理解越准确，给出的实现方案就越可靠。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战略 · 可共建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 Native 社区规划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645920" cy="256032"/>
          </a:xfrm>
          <a:prstGeom prst="rect">
            <a:avLst>
              <a:gd name="adj" fmla="val 1785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🤝  可共建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可共建：吸引 AI 时代的新一代开发者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393192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AI 时代新贡献者画像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874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传统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1874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AI 时代新人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148840"/>
            <a:ext cx="164592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2148840"/>
            <a:ext cx="1645920" cy="54864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5年+ 编程经验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1460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2400E"/>
                </a:solidFill>
              </a:rPr>
              <a:t>1-3年，AI 补足技能差距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94560" y="22860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" y="2807208"/>
            <a:ext cx="164592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68880" y="2807208"/>
            <a:ext cx="1645920" cy="54864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8986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深耕某个技术栈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14600" y="28986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2400E"/>
                </a:solidFill>
              </a:rPr>
              <a:t>跨领域，AI 跨越知识壁垒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94560" y="29443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3465576"/>
            <a:ext cx="164592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68880" y="3465576"/>
            <a:ext cx="1645920" cy="54864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55701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代码贡献为主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14600" y="355701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2400E"/>
                </a:solidFill>
              </a:rPr>
              <a:t>代码+文档+测试均等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194560" y="360273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4360" y="4123944"/>
            <a:ext cx="164592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68880" y="4123944"/>
            <a:ext cx="1645920" cy="54864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2153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从 Issue 到 PR 独立完成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514600" y="42153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2400E"/>
                </a:solidFill>
              </a:rPr>
              <a:t>AI 辅助完成各环节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194560" y="426110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663440" y="137160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1371600"/>
            <a:ext cx="402336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四大运营抓手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00600" y="1965960"/>
            <a:ext cx="411480" cy="411480"/>
          </a:xfrm>
          <a:prstGeom prst="ellipse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03520" y="192024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AI 辅助贡献政策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303520" y="217627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明确允许，注明质量要求，消除门槛歧视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0600" y="2670048"/>
            <a:ext cx="411480" cy="411480"/>
          </a:xfrm>
          <a:prstGeom prst="ellipse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2670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🏃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03520" y="262432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Hackathon（AI贡献马拉松）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303520" y="28803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48h 内提交真实 PR，面向新开发者群体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00600" y="3374136"/>
            <a:ext cx="411480" cy="411480"/>
          </a:xfrm>
          <a:prstGeom prst="ellipse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33741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🤝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303520" y="332841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Buddy 配对计划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303520" y="358444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老贡献者 1:1 带新人，加速社区归属感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00600" y="4078224"/>
            <a:ext cx="411480" cy="411480"/>
          </a:xfrm>
          <a:prstGeom prst="ellipse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4078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🏅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303520" y="403250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多元贡献认可体系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5303520" y="428853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代码/文档/翻译/答疑均可获得积分和徽章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13E">
              <a:alpha val="60000"/>
            </a:srgbClr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AI Native 成熟度模型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9F6E4"/>
                </a:solidFill>
              </a:rPr>
              <a:t>五维度评估体系 · 判断标准 · 与运营计划的深度链接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成熟度模型 · 框架必要性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 Native 社区规划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645920" cy="256032"/>
          </a:xfrm>
          <a:prstGeom prst="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  度量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现有框架无法回答的关键问题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0292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5029200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4813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现有主流框架的局限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1874520"/>
            <a:ext cx="47548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965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CHAOSS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2057400"/>
            <a:ext cx="45720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19659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未考虑 AI 工具对贡献体验的影响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2560320"/>
            <a:ext cx="47548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6517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GitHub Octoverse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94560" y="2743200"/>
            <a:ext cx="45720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31720" y="2651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量化行为数量，不反映体验质量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" y="3246120"/>
            <a:ext cx="47548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3375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CNCF 成熟度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194560" y="3429000"/>
            <a:ext cx="45720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31720" y="33375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企业软件视角，不适合开发者社区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4360" y="3931920"/>
            <a:ext cx="47548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023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DevEx 框架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194560" y="4114800"/>
            <a:ext cx="45720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31720" y="40233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聚焦个人效率，非社区整体视角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760720" y="1371600"/>
            <a:ext cx="2926080" cy="333756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760720" y="1554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❓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585216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它们都无法回答的核心问题：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52160" y="2578608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F46"/>
                </a:solidFill>
              </a:rPr>
              <a:t>当开发者打开 AI IDE，尝试理解并贡献我们的项目时——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65F46"/>
                </a:solidFill>
              </a:rPr>
              <a:t>体验有多流畅？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成熟度模型 · 维度设计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 Native 社区规划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645920" cy="256032"/>
          </a:xfrm>
          <a:prstGeom prst="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  度量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从三支柱到五维度：推导逻辑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828800" cy="10515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91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</a:rPr>
              <a:t>🔍 可发现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3172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788920" y="1417320"/>
            <a:ext cx="2286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88920" y="1417320"/>
            <a:ext cx="54864" cy="960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14813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D1 项目 AI 友好度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181051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CLAUDE.md · 文档结构化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257800" y="1417320"/>
            <a:ext cx="2286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57800" y="1417320"/>
            <a:ext cx="54864" cy="960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14813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D2 内容 AI 可检索性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0" y="181051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llms.txt · SEO · 文档密度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88920" y="242316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💡 两者改善路径完全不同：D1 影响贡献体验，D2 影响社区入口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560320"/>
            <a:ext cx="1828800" cy="105156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⚙️ 可应用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33172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788920" y="2606040"/>
            <a:ext cx="2286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88920" y="2606040"/>
            <a:ext cx="54864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0" y="26700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D3 贡献入口质量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926080" y="299923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GFI · PR 模板 · AI Review Bot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257800" y="2606040"/>
            <a:ext cx="2286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57800" y="2606040"/>
            <a:ext cx="54864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94960" y="26700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D4 开发者上手体验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94960" y="299923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引导页 · Buddy · Prompt 模板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88920" y="36118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💡 D3 是任务侧设计，D4 是引导侧设计，可以独立优先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3749040"/>
            <a:ext cx="1828800" cy="105156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069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🤝 可共建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33172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2788920" y="3794760"/>
            <a:ext cx="2286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88920" y="3794760"/>
            <a:ext cx="54864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0" y="38587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D5 新开发者吸引与留存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926080" y="418795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北极星 · 留存率 · 多样性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78892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💡 是前四维度综合作用的结果指标，不需要拆分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成熟度模型 · 评分细则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 Native 社区规划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645920" cy="256032"/>
          </a:xfrm>
          <a:prstGeom prst="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  度量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五维度 1-5 分评分标准（概览）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554480" cy="5943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54864" cy="5943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42646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F46E5"/>
                </a:solidFill>
              </a:rPr>
              <a:t>D1 项目AI友好度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48840" y="1408176"/>
            <a:ext cx="1261872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1408176"/>
            <a:ext cx="256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23160" y="1426464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无README/CONTRIBUTING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502152" y="1408176"/>
            <a:ext cx="1261872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02152" y="1408176"/>
            <a:ext cx="256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76472" y="1426464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基础文档，结构混乱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55464" y="1408176"/>
            <a:ext cx="1261872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55464" y="1408176"/>
            <a:ext cx="256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9784" y="1426464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README完整+有CONTRIBUTING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08776" y="1408176"/>
            <a:ext cx="1261872" cy="521208"/>
          </a:xfrm>
          <a:prstGeom prst="rect">
            <a:avLst/>
          </a:prstGeom>
          <a:solidFill>
            <a:srgbClr val="EEF2F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08776" y="1408176"/>
            <a:ext cx="256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83096" y="1426464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有ARCHITECTURE/CHANGELOG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562088" y="1408176"/>
            <a:ext cx="1261872" cy="521208"/>
          </a:xfrm>
          <a:prstGeom prst="rect">
            <a:avLst/>
          </a:prstGeom>
          <a:solidFill>
            <a:srgbClr val="EEF2F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62088" y="1408176"/>
            <a:ext cx="256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836408" y="1426464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有CLAUDE.md，文档有专人维护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2039112"/>
            <a:ext cx="1554480" cy="5943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039112"/>
            <a:ext cx="54864" cy="5943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209397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366F1"/>
                </a:solidFill>
              </a:rPr>
              <a:t>D2 内容可检索性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148840" y="2075688"/>
            <a:ext cx="1261872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48840" y="2075688"/>
            <a:ext cx="256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423160" y="2093976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无文档站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502152" y="2075688"/>
            <a:ext cx="1261872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02152" y="2075688"/>
            <a:ext cx="256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776472" y="2093976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有站但滞后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55464" y="2075688"/>
            <a:ext cx="1261872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55464" y="2075688"/>
            <a:ext cx="256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29784" y="2093976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文档站完整+Topics规范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08776" y="2075688"/>
            <a:ext cx="1261872" cy="521208"/>
          </a:xfrm>
          <a:prstGeom prst="rect">
            <a:avLst/>
          </a:prstGeom>
          <a:solidFill>
            <a:srgbClr val="EEF2F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08776" y="2075688"/>
            <a:ext cx="256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83096" y="2093976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内容高密度+结构化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562088" y="2075688"/>
            <a:ext cx="1261872" cy="521208"/>
          </a:xfrm>
          <a:prstGeom prst="rect">
            <a:avLst/>
          </a:prstGeom>
          <a:solidFill>
            <a:srgbClr val="EEF2F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62088" y="2075688"/>
            <a:ext cx="256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836408" y="2093976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部署llms.txt，AI搜索有引用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57200" y="2706624"/>
            <a:ext cx="1554480" cy="59436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2706624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276148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D3 贡献入口质量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148840" y="2743200"/>
            <a:ext cx="1261872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48840" y="2743200"/>
            <a:ext cx="256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1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423160" y="276148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无GFI/PR模板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502152" y="2743200"/>
            <a:ext cx="1261872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02152" y="2743200"/>
            <a:ext cx="256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2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776472" y="276148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基础模板+简单CI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855464" y="2743200"/>
            <a:ext cx="1261872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55464" y="2743200"/>
            <a:ext cx="256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3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129784" y="276148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GFI规范+CI完整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208776" y="2743200"/>
            <a:ext cx="1261872" cy="521208"/>
          </a:xfrm>
          <a:prstGeom prst="rect">
            <a:avLst/>
          </a:prstGeom>
          <a:solidFill>
            <a:srgbClr val="F0FDF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08776" y="2743200"/>
            <a:ext cx="256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4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483096" y="276148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GFI含文件路径+AI Review试点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562088" y="2743200"/>
            <a:ext cx="1261872" cy="521208"/>
          </a:xfrm>
          <a:prstGeom prst="rect">
            <a:avLst/>
          </a:prstGeom>
          <a:solidFill>
            <a:srgbClr val="F0FDF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62088" y="2743200"/>
            <a:ext cx="256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5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836408" y="276148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GFI附AI提示+Review&lt;48h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57200" y="3374136"/>
            <a:ext cx="1554480" cy="59436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57200" y="3374136"/>
            <a:ext cx="54864" cy="594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4360" y="342900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4B8A6"/>
                </a:solidFill>
              </a:rPr>
              <a:t>D4 开发者上手体验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148840" y="3410712"/>
            <a:ext cx="1261872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148840" y="3410712"/>
            <a:ext cx="256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1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2423160" y="342900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无新手引导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502152" y="3410712"/>
            <a:ext cx="1261872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502152" y="3410712"/>
            <a:ext cx="256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2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3776472" y="342900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有文档但非AI友好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855464" y="3410712"/>
            <a:ext cx="1261872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855464" y="3410712"/>
            <a:ext cx="256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3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129784" y="342900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含AI工具内容+Buddy机制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208776" y="3410712"/>
            <a:ext cx="1261872" cy="521208"/>
          </a:xfrm>
          <a:prstGeom prst="rect">
            <a:avLst/>
          </a:prstGeom>
          <a:solidFill>
            <a:srgbClr val="F0FDF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08776" y="3410712"/>
            <a:ext cx="256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4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6483096" y="342900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AI贡献专属路径+Prompt模板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7562088" y="3410712"/>
            <a:ext cx="1261872" cy="521208"/>
          </a:xfrm>
          <a:prstGeom prst="rect">
            <a:avLst/>
          </a:prstGeom>
          <a:solidFill>
            <a:srgbClr val="F0FDF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562088" y="3410712"/>
            <a:ext cx="256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5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7836408" y="342900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2h完成首贡献，有数据验证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457200" y="4041648"/>
            <a:ext cx="1554480" cy="59436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57200" y="4041648"/>
            <a:ext cx="54864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94360" y="409651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D5 新开发者吸引留存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2148840" y="4078224"/>
            <a:ext cx="1261872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148840" y="4078224"/>
            <a:ext cx="256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1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2423160" y="409651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无政策，新人迅速流失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3502152" y="4078224"/>
            <a:ext cx="1261872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502152" y="4078224"/>
            <a:ext cx="256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2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3776472" y="409651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默许AI贡献，无政策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4855464" y="4078224"/>
            <a:ext cx="1261872" cy="521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855464" y="4078224"/>
            <a:ext cx="256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3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5129784" y="409651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有政策+多元认可+季度活动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6208776" y="4078224"/>
            <a:ext cx="1261872" cy="521208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208776" y="4078224"/>
            <a:ext cx="256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4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6483096" y="409651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Buddy成熟+新开发者占比≥25%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7562088" y="4078224"/>
            <a:ext cx="1261872" cy="521208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562088" y="4078224"/>
            <a:ext cx="256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5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7836408" y="409651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新开发者≥30%，留存率≥35%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457200" y="4663440"/>
            <a:ext cx="1554480" cy="27432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02920" y="46817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766E"/>
                </a:solidFill>
              </a:rPr>
              <a:t>目标区间建议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2148840" y="4681728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满分 25 分    L3（13-17）→ L4（18-21）是 2026 年的目标跨越区间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成熟度模型 · 等级与跃迁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 Native 社区规划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645920" cy="256032"/>
          </a:xfrm>
          <a:prstGeom prst="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  度量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成熟度等级与关键跃迁卡点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046720" cy="548640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54864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4813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C2626"/>
                </a:solidFill>
              </a:rPr>
              <a:t>L1 初始级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057400" y="149961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5-8 分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0" y="14996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基础薄弱，文档和流程均未适配 AI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8046720" cy="54864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011680"/>
            <a:ext cx="54864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1214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7706"/>
                </a:solidFill>
              </a:rPr>
              <a:t>L2 探索级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057400" y="213969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9-12 分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0" y="21396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有零散尝试，选 1-2 个支柱集中突破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04672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7614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563EB"/>
                </a:solidFill>
              </a:rPr>
              <a:t>L3 发展级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057400" y="277977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13-17 分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0" y="277977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系统建设中，三支柱均有基本覆盖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291840"/>
            <a:ext cx="8046720" cy="548640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291840"/>
            <a:ext cx="54864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4015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59669"/>
                </a:solidFill>
              </a:rPr>
              <a:t>L4 成熟级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057400" y="341985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18-21 分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26080" y="34198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AI Native 全面落地，新开发者快速增长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8046720" cy="548640"/>
          </a:xfrm>
          <a:prstGeom prst="rect">
            <a:avLst/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931920"/>
            <a:ext cx="54864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0416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C3AED"/>
                </a:solidFill>
              </a:rPr>
              <a:t>L5 引领级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057400" y="405993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22-25 分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926080" y="405993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行业标杆，可对外输出最佳实践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636008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65F46"/>
                </a:solidFill>
              </a:rPr>
              <a:t>⚠️  最难跨越：L3→L4  |  核心问题：「有入口、有工具，但没有社区归属感」  |  破局：Buddy 计划 + 多元贡献认可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13E">
              <a:alpha val="60000"/>
            </a:srgbClr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2026年路线图与 KPI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DE68A"/>
                </a:solidFill>
              </a:rPr>
              <a:t>季度行动 · 北极星指标 · 关键里程碑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路线图 · 2026年季度规划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 Native 社区规划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645920" cy="256032"/>
          </a:xfrm>
          <a:prstGeom prst="rect">
            <a:avLst>
              <a:gd name="adj" fmla="val 1785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  路线图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2026年季度行动路线图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353312"/>
            <a:ext cx="2029968" cy="34107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53312"/>
            <a:ext cx="2029968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8988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F46E5"/>
                </a:solidFill>
              </a:rPr>
              <a:t>Q1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14630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F46E5"/>
                </a:solidFill>
              </a:rPr>
              <a:t>夯实基础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201168" cy="20116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05740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核心项目 CLAUDE.md 全覆盖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779776"/>
            <a:ext cx="201168" cy="20116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734056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Good First Issue 质量升级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456432"/>
            <a:ext cx="201168" cy="20116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41071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GitHub Topics 标签规范化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133088"/>
            <a:ext cx="201168" cy="20116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08736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发布《AI 辅助贡献政策》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96312" y="1353312"/>
            <a:ext cx="2029968" cy="34107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96312" y="1353312"/>
            <a:ext cx="2029968" cy="502920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87752" y="138988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A5E9"/>
                </a:solidFill>
              </a:rPr>
              <a:t>Q2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999232" y="14630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激活贡献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33472" y="2103120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07792" y="205740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AI 辅助贡献新手引导页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633472" y="2779776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07792" y="2734056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AI Review Bot 试点上线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33472" y="3456432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07792" y="341071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AI 辅助贡献马拉松 Hackathon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33472" y="4133088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07792" y="408736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文档站 AI 搜索优化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72584" y="1353312"/>
            <a:ext cx="2029968" cy="34107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72584" y="1353312"/>
            <a:ext cx="2029968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64024" y="138988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Q3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175504" y="14630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深化沉淀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09744" y="210312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84064" y="205740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AI Review Bot 全面覆盖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09744" y="277977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84064" y="2734056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贡献者实战案例库建设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9744" y="345643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84064" y="341071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年中开发者峰会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09744" y="4133088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84064" y="408736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《社区项目 AI 友好度报告》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848856" y="1353312"/>
            <a:ext cx="2029968" cy="34107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848856" y="1353312"/>
            <a:ext cx="2029968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40296" y="138988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Q4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351776" y="14630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收官展望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986016" y="210312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60336" y="205740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llms.txt 协议全站部署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86016" y="277977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60336" y="2734056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多元贡献认可体系升级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986016" y="345643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60336" y="341071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Buddy 配对计划扩大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986016" y="413308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60336" y="408736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年度成熟度评估报告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路线图 · KPI 体系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 Native 社区规划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645920" cy="256032"/>
          </a:xfrm>
          <a:prstGeom prst="rect">
            <a:avLst>
              <a:gd name="adj" fmla="val 1785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  KPI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北极星指标与三支柱 KPI 体系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353312"/>
            <a:ext cx="8229600" cy="731520"/>
          </a:xfrm>
          <a:prstGeom prst="rect">
            <a:avLst/>
          </a:prstGeom>
          <a:solidFill>
            <a:srgbClr val="FFF9E6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173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4300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北极星指标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月新增首次贡献者数（Monthly First-time Contributors）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0" y="15361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目标：同比 +80%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267712"/>
            <a:ext cx="26517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267712"/>
            <a:ext cx="265176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30428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F46E5"/>
                </a:solidFill>
              </a:rPr>
              <a:t>🔍 可发现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2706624"/>
            <a:ext cx="2432304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7614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CLAUDE.md 覆盖率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29968" y="27614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F46E5"/>
                </a:solidFill>
              </a:rPr>
              <a:t>≥80%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70048" y="279806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季度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66928" y="3145536"/>
            <a:ext cx="2432304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200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文档站有机流量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29968" y="32004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F46E5"/>
                </a:solidFill>
              </a:rPr>
              <a:t>+60%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670048" y="323697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月度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66928" y="3584448"/>
            <a:ext cx="2432304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36393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AI 搜索被引用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29968" y="36393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F46E5"/>
                </a:solidFill>
              </a:rPr>
              <a:t>建立基线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670048" y="367588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季度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355848" y="2267712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55848" y="2267712"/>
            <a:ext cx="2651760" cy="34747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65576" y="230428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⚙️ 可应用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465576" y="2706624"/>
            <a:ext cx="2432304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27614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GFI 解决率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28616" y="27614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≥60%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568696" y="279806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月度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465576" y="3145536"/>
            <a:ext cx="2432304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20440" y="3200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PR 首次通过率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28616" y="32004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≥50%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568696" y="323697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月度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465576" y="3584448"/>
            <a:ext cx="2432304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20440" y="36393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PR Review 响应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28616" y="36393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&lt;48h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568696" y="367588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周度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465576" y="4023360"/>
            <a:ext cx="2432304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20440" y="40782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新手引导完成率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28616" y="40782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≥40%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568696" y="41148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月度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254496" y="2267712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254496" y="2267712"/>
            <a:ext cx="2651760" cy="347472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64224" y="230428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7706"/>
                </a:solidFill>
              </a:rPr>
              <a:t>🤝 可共建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364224" y="2706624"/>
            <a:ext cx="2432304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19088" y="27614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贡献者留存率(3m)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827264" y="27614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≥35%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8467344" y="279806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季度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364224" y="3145536"/>
            <a:ext cx="2432304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19088" y="3200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新开发者占比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827264" y="32004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≥30%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467344" y="323697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月度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364224" y="3584448"/>
            <a:ext cx="2432304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19088" y="36393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非代码贡献占比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827264" y="36393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≥35%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467344" y="367588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季度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364224" y="4023360"/>
            <a:ext cx="2432304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19088" y="40782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社区 NPS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827264" y="40782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≥45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8467344" y="41148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季度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路线图 · 成熟度与行动联动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 Native 社区规划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645920" cy="256032"/>
          </a:xfrm>
          <a:prstGeom prst="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  联动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成熟度评分驱动季度行动优先级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每个季度行动直接对应一个或多个成熟度维度，评分差距决定优先级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2468880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898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行动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71800" y="1371600"/>
            <a:ext cx="777240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138988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维度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94760" y="1371600"/>
            <a:ext cx="548640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13898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季度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07408" y="1371600"/>
            <a:ext cx="1097280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53128" y="13898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支柱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77840" y="1371600"/>
            <a:ext cx="640080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13898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提升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371600"/>
            <a:ext cx="2468880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3898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关联 KPI（举例）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1682496"/>
            <a:ext cx="24688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1682496"/>
            <a:ext cx="7772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94760" y="1682496"/>
            <a:ext cx="548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07408" y="1682496"/>
            <a:ext cx="10972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77840" y="1682496"/>
            <a:ext cx="6400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1682496"/>
            <a:ext cx="24688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171907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CLAUDE.md 全覆盖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017520" y="171907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D1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840480" y="17190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46E5"/>
                </a:solidFill>
              </a:rPr>
              <a:t>Q1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453128" y="17190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F46E5"/>
                </a:solidFill>
              </a:rPr>
              <a:t>可发现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23560" y="171907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+1~2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63640" y="171907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CLAUDE.md覆盖率≥80%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1929384"/>
            <a:ext cx="246888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71800" y="1929384"/>
            <a:ext cx="77724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94760" y="1929384"/>
            <a:ext cx="54864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07408" y="1929384"/>
            <a:ext cx="109728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77840" y="1929384"/>
            <a:ext cx="64008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0" y="1929384"/>
            <a:ext cx="246888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196596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GFI 质量升级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017520" y="196596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D3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840480" y="1965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46E5"/>
                </a:solidFill>
              </a:rPr>
              <a:t>Q1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453128" y="196596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可应用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623560" y="19659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+1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63640" y="196596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GFI解决率≥60%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" y="2176272"/>
            <a:ext cx="24688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71800" y="2176272"/>
            <a:ext cx="7772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94760" y="2176272"/>
            <a:ext cx="548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07408" y="2176272"/>
            <a:ext cx="10972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577840" y="2176272"/>
            <a:ext cx="6400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17920" y="2176272"/>
            <a:ext cx="24688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221284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Topics 规范化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017520" y="221284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D2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840480" y="22128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46E5"/>
                </a:solidFill>
              </a:rPr>
              <a:t>Q1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453128" y="22128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F46E5"/>
                </a:solidFill>
              </a:rPr>
              <a:t>可发现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623560" y="22128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+0.5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263640" y="221284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Topics100%覆盖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57200" y="2423160"/>
            <a:ext cx="246888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971800" y="2423160"/>
            <a:ext cx="77724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94760" y="2423160"/>
            <a:ext cx="54864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407408" y="2423160"/>
            <a:ext cx="109728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577840" y="2423160"/>
            <a:ext cx="64008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17920" y="2423160"/>
            <a:ext cx="246888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" y="245973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AI 贡献政策发布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3017520" y="245973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D5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3840480" y="24597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46E5"/>
                </a:solidFill>
              </a:rPr>
              <a:t>Q1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453128" y="245973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可共建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623560" y="245973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+1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263640" y="245973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AI贡献政策发布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57200" y="2670048"/>
            <a:ext cx="24688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971800" y="2670048"/>
            <a:ext cx="7772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794760" y="2670048"/>
            <a:ext cx="548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407408" y="2670048"/>
            <a:ext cx="10972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577840" y="2670048"/>
            <a:ext cx="6400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217920" y="2670048"/>
            <a:ext cx="24688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2920" y="270662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新手引导页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3017520" y="270662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D4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3840480" y="270662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A5E9"/>
                </a:solidFill>
              </a:rPr>
              <a:t>Q2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4453128" y="270662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可应用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5623560" y="270662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+1~2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6263640" y="270662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新手引导完成率≥40%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457200" y="2916936"/>
            <a:ext cx="246888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971800" y="2916936"/>
            <a:ext cx="77724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794760" y="2916936"/>
            <a:ext cx="54864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407408" y="2916936"/>
            <a:ext cx="109728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577840" y="2916936"/>
            <a:ext cx="64008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217920" y="2916936"/>
            <a:ext cx="246888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02920" y="29535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AI Review Bot 试点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3017520" y="295351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D3+D4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3840480" y="29535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A5E9"/>
                </a:solidFill>
              </a:rPr>
              <a:t>Q2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4453128" y="295351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可应用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5623560" y="29535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+1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6263640" y="29535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PR响应&lt;48h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457200" y="3163824"/>
            <a:ext cx="24688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971800" y="3163824"/>
            <a:ext cx="7772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94760" y="3163824"/>
            <a:ext cx="548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407408" y="3163824"/>
            <a:ext cx="10972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577840" y="3163824"/>
            <a:ext cx="6400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217920" y="3163824"/>
            <a:ext cx="24688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02920" y="320040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Hackathon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3017520" y="320040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D4+D5</a:t>
            </a:r>
            <a:endParaRPr lang="en-US" sz="950" dirty="0"/>
          </a:p>
        </p:txBody>
      </p:sp>
      <p:sp>
        <p:nvSpPr>
          <p:cNvPr id="101" name="Text 99"/>
          <p:cNvSpPr/>
          <p:nvPr/>
        </p:nvSpPr>
        <p:spPr>
          <a:xfrm>
            <a:off x="3840480" y="32004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A5E9"/>
                </a:solidFill>
              </a:rPr>
              <a:t>Q2</a:t>
            </a:r>
            <a:endParaRPr lang="en-US" sz="950" dirty="0"/>
          </a:p>
        </p:txBody>
      </p:sp>
      <p:sp>
        <p:nvSpPr>
          <p:cNvPr id="102" name="Text 100"/>
          <p:cNvSpPr/>
          <p:nvPr/>
        </p:nvSpPr>
        <p:spPr>
          <a:xfrm>
            <a:off x="4453128" y="320040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可共建</a:t>
            </a:r>
            <a:endParaRPr lang="en-US" sz="950" dirty="0"/>
          </a:p>
        </p:txBody>
      </p:sp>
      <p:sp>
        <p:nvSpPr>
          <p:cNvPr id="103" name="Text 101"/>
          <p:cNvSpPr/>
          <p:nvPr/>
        </p:nvSpPr>
        <p:spPr>
          <a:xfrm>
            <a:off x="5623560" y="320040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+1</a:t>
            </a:r>
            <a:endParaRPr lang="en-US" sz="950" dirty="0"/>
          </a:p>
        </p:txBody>
      </p:sp>
      <p:sp>
        <p:nvSpPr>
          <p:cNvPr id="104" name="Text 102"/>
          <p:cNvSpPr/>
          <p:nvPr/>
        </p:nvSpPr>
        <p:spPr>
          <a:xfrm>
            <a:off x="6263640" y="320040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首贡献者+40%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457200" y="3410712"/>
            <a:ext cx="246888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971800" y="3410712"/>
            <a:ext cx="77724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794760" y="3410712"/>
            <a:ext cx="54864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407408" y="3410712"/>
            <a:ext cx="109728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577840" y="3410712"/>
            <a:ext cx="64008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217920" y="3410712"/>
            <a:ext cx="246888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02920" y="344728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文档站 AI 搜索优化</a:t>
            </a:r>
            <a:endParaRPr lang="en-US" sz="950" dirty="0"/>
          </a:p>
        </p:txBody>
      </p:sp>
      <p:sp>
        <p:nvSpPr>
          <p:cNvPr id="112" name="Text 110"/>
          <p:cNvSpPr/>
          <p:nvPr/>
        </p:nvSpPr>
        <p:spPr>
          <a:xfrm>
            <a:off x="3017520" y="344728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D2</a:t>
            </a:r>
            <a:endParaRPr lang="en-US" sz="950" dirty="0"/>
          </a:p>
        </p:txBody>
      </p:sp>
      <p:sp>
        <p:nvSpPr>
          <p:cNvPr id="113" name="Text 111"/>
          <p:cNvSpPr/>
          <p:nvPr/>
        </p:nvSpPr>
        <p:spPr>
          <a:xfrm>
            <a:off x="3840480" y="344728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A5E9"/>
                </a:solidFill>
              </a:rPr>
              <a:t>Q2</a:t>
            </a:r>
            <a:endParaRPr lang="en-US" sz="950" dirty="0"/>
          </a:p>
        </p:txBody>
      </p:sp>
      <p:sp>
        <p:nvSpPr>
          <p:cNvPr id="114" name="Text 112"/>
          <p:cNvSpPr/>
          <p:nvPr/>
        </p:nvSpPr>
        <p:spPr>
          <a:xfrm>
            <a:off x="4453128" y="344728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F46E5"/>
                </a:solidFill>
              </a:rPr>
              <a:t>可发现</a:t>
            </a:r>
            <a:endParaRPr lang="en-US" sz="950" dirty="0"/>
          </a:p>
        </p:txBody>
      </p:sp>
      <p:sp>
        <p:nvSpPr>
          <p:cNvPr id="115" name="Text 113"/>
          <p:cNvSpPr/>
          <p:nvPr/>
        </p:nvSpPr>
        <p:spPr>
          <a:xfrm>
            <a:off x="5623560" y="34472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+1</a:t>
            </a:r>
            <a:endParaRPr lang="en-US" sz="950" dirty="0"/>
          </a:p>
        </p:txBody>
      </p:sp>
      <p:sp>
        <p:nvSpPr>
          <p:cNvPr id="116" name="Text 114"/>
          <p:cNvSpPr/>
          <p:nvPr/>
        </p:nvSpPr>
        <p:spPr>
          <a:xfrm>
            <a:off x="6263640" y="344728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文档流量+60%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457200" y="3657600"/>
            <a:ext cx="24688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971800" y="3657600"/>
            <a:ext cx="7772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794760" y="3657600"/>
            <a:ext cx="548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407408" y="3657600"/>
            <a:ext cx="10972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577840" y="3657600"/>
            <a:ext cx="6400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217920" y="3657600"/>
            <a:ext cx="24688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02920" y="369417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案例库建设</a:t>
            </a:r>
            <a:endParaRPr lang="en-US" sz="950" dirty="0"/>
          </a:p>
        </p:txBody>
      </p:sp>
      <p:sp>
        <p:nvSpPr>
          <p:cNvPr id="124" name="Text 122"/>
          <p:cNvSpPr/>
          <p:nvPr/>
        </p:nvSpPr>
        <p:spPr>
          <a:xfrm>
            <a:off x="3017520" y="369417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D4+D5</a:t>
            </a:r>
            <a:endParaRPr lang="en-US" sz="950" dirty="0"/>
          </a:p>
        </p:txBody>
      </p:sp>
      <p:sp>
        <p:nvSpPr>
          <p:cNvPr id="125" name="Text 123"/>
          <p:cNvSpPr/>
          <p:nvPr/>
        </p:nvSpPr>
        <p:spPr>
          <a:xfrm>
            <a:off x="3840480" y="36941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Q3</a:t>
            </a:r>
            <a:endParaRPr lang="en-US" sz="950" dirty="0"/>
          </a:p>
        </p:txBody>
      </p:sp>
      <p:sp>
        <p:nvSpPr>
          <p:cNvPr id="126" name="Text 124"/>
          <p:cNvSpPr/>
          <p:nvPr/>
        </p:nvSpPr>
        <p:spPr>
          <a:xfrm>
            <a:off x="4453128" y="369417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可应用</a:t>
            </a:r>
            <a:endParaRPr lang="en-US" sz="950" dirty="0"/>
          </a:p>
        </p:txBody>
      </p:sp>
      <p:sp>
        <p:nvSpPr>
          <p:cNvPr id="127" name="Text 125"/>
          <p:cNvSpPr/>
          <p:nvPr/>
        </p:nvSpPr>
        <p:spPr>
          <a:xfrm>
            <a:off x="5623560" y="36941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+1</a:t>
            </a:r>
            <a:endParaRPr lang="en-US" sz="950" dirty="0"/>
          </a:p>
        </p:txBody>
      </p:sp>
      <p:sp>
        <p:nvSpPr>
          <p:cNvPr id="128" name="Text 126"/>
          <p:cNvSpPr/>
          <p:nvPr/>
        </p:nvSpPr>
        <p:spPr>
          <a:xfrm>
            <a:off x="6263640" y="369417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案例页访问量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457200" y="3904488"/>
            <a:ext cx="246888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971800" y="3904488"/>
            <a:ext cx="77724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3794760" y="3904488"/>
            <a:ext cx="54864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407408" y="3904488"/>
            <a:ext cx="109728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577840" y="3904488"/>
            <a:ext cx="64008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217920" y="3904488"/>
            <a:ext cx="246888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02920" y="39410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AI 友好度报告</a:t>
            </a:r>
            <a:endParaRPr lang="en-US" sz="950" dirty="0"/>
          </a:p>
        </p:txBody>
      </p:sp>
      <p:sp>
        <p:nvSpPr>
          <p:cNvPr id="136" name="Text 134"/>
          <p:cNvSpPr/>
          <p:nvPr/>
        </p:nvSpPr>
        <p:spPr>
          <a:xfrm>
            <a:off x="3017520" y="39410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D1+D2</a:t>
            </a:r>
            <a:endParaRPr lang="en-US" sz="950" dirty="0"/>
          </a:p>
        </p:txBody>
      </p:sp>
      <p:sp>
        <p:nvSpPr>
          <p:cNvPr id="137" name="Text 135"/>
          <p:cNvSpPr/>
          <p:nvPr/>
        </p:nvSpPr>
        <p:spPr>
          <a:xfrm>
            <a:off x="3840480" y="394106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Q3</a:t>
            </a:r>
            <a:endParaRPr lang="en-US" sz="950" dirty="0"/>
          </a:p>
        </p:txBody>
      </p:sp>
      <p:sp>
        <p:nvSpPr>
          <p:cNvPr id="138" name="Text 136"/>
          <p:cNvSpPr/>
          <p:nvPr/>
        </p:nvSpPr>
        <p:spPr>
          <a:xfrm>
            <a:off x="4453128" y="394106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F46E5"/>
                </a:solidFill>
              </a:rPr>
              <a:t>可发现</a:t>
            </a:r>
            <a:endParaRPr lang="en-US" sz="950" dirty="0"/>
          </a:p>
        </p:txBody>
      </p:sp>
      <p:sp>
        <p:nvSpPr>
          <p:cNvPr id="139" name="Text 137"/>
          <p:cNvSpPr/>
          <p:nvPr/>
        </p:nvSpPr>
        <p:spPr>
          <a:xfrm>
            <a:off x="5623560" y="39410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透明度</a:t>
            </a:r>
            <a:endParaRPr lang="en-US" sz="950" dirty="0"/>
          </a:p>
        </p:txBody>
      </p:sp>
      <p:sp>
        <p:nvSpPr>
          <p:cNvPr id="140" name="Text 138"/>
          <p:cNvSpPr/>
          <p:nvPr/>
        </p:nvSpPr>
        <p:spPr>
          <a:xfrm>
            <a:off x="6263640" y="39410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AI搜索引用基线</a:t>
            </a:r>
            <a:endParaRPr lang="en-US" sz="850" dirty="0"/>
          </a:p>
        </p:txBody>
      </p:sp>
      <p:sp>
        <p:nvSpPr>
          <p:cNvPr id="141" name="Shape 139"/>
          <p:cNvSpPr/>
          <p:nvPr/>
        </p:nvSpPr>
        <p:spPr>
          <a:xfrm>
            <a:off x="457200" y="4151376"/>
            <a:ext cx="24688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971800" y="4151376"/>
            <a:ext cx="7772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794760" y="4151376"/>
            <a:ext cx="548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407408" y="4151376"/>
            <a:ext cx="10972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577840" y="4151376"/>
            <a:ext cx="6400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217920" y="4151376"/>
            <a:ext cx="246888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502920" y="41879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llms.txt 部署</a:t>
            </a:r>
            <a:endParaRPr lang="en-US" sz="950" dirty="0"/>
          </a:p>
        </p:txBody>
      </p:sp>
      <p:sp>
        <p:nvSpPr>
          <p:cNvPr id="148" name="Text 146"/>
          <p:cNvSpPr/>
          <p:nvPr/>
        </p:nvSpPr>
        <p:spPr>
          <a:xfrm>
            <a:off x="3017520" y="418795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D2</a:t>
            </a:r>
            <a:endParaRPr lang="en-US" sz="950" dirty="0"/>
          </a:p>
        </p:txBody>
      </p:sp>
      <p:sp>
        <p:nvSpPr>
          <p:cNvPr id="149" name="Text 147"/>
          <p:cNvSpPr/>
          <p:nvPr/>
        </p:nvSpPr>
        <p:spPr>
          <a:xfrm>
            <a:off x="3840480" y="4187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Q4</a:t>
            </a:r>
            <a:endParaRPr lang="en-US" sz="950" dirty="0"/>
          </a:p>
        </p:txBody>
      </p:sp>
      <p:sp>
        <p:nvSpPr>
          <p:cNvPr id="150" name="Text 148"/>
          <p:cNvSpPr/>
          <p:nvPr/>
        </p:nvSpPr>
        <p:spPr>
          <a:xfrm>
            <a:off x="4453128" y="418795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F46E5"/>
                </a:solidFill>
              </a:rPr>
              <a:t>可发现</a:t>
            </a:r>
            <a:endParaRPr lang="en-US" sz="950" dirty="0"/>
          </a:p>
        </p:txBody>
      </p:sp>
      <p:sp>
        <p:nvSpPr>
          <p:cNvPr id="151" name="Text 149"/>
          <p:cNvSpPr/>
          <p:nvPr/>
        </p:nvSpPr>
        <p:spPr>
          <a:xfrm>
            <a:off x="5623560" y="41879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+1</a:t>
            </a:r>
            <a:endParaRPr lang="en-US" sz="950" dirty="0"/>
          </a:p>
        </p:txBody>
      </p:sp>
      <p:sp>
        <p:nvSpPr>
          <p:cNvPr id="152" name="Text 150"/>
          <p:cNvSpPr/>
          <p:nvPr/>
        </p:nvSpPr>
        <p:spPr>
          <a:xfrm>
            <a:off x="6263640" y="41879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llms.txt部署</a:t>
            </a:r>
            <a:endParaRPr lang="en-US" sz="850" dirty="0"/>
          </a:p>
        </p:txBody>
      </p:sp>
      <p:sp>
        <p:nvSpPr>
          <p:cNvPr id="153" name="Shape 151"/>
          <p:cNvSpPr/>
          <p:nvPr/>
        </p:nvSpPr>
        <p:spPr>
          <a:xfrm>
            <a:off x="457200" y="4398264"/>
            <a:ext cx="246888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2971800" y="4398264"/>
            <a:ext cx="77724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794760" y="4398264"/>
            <a:ext cx="54864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4407408" y="4398264"/>
            <a:ext cx="109728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577840" y="4398264"/>
            <a:ext cx="64008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217920" y="4398264"/>
            <a:ext cx="2468880" cy="228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502920" y="44348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多元贡献认可体系</a:t>
            </a:r>
            <a:endParaRPr lang="en-US" sz="950" dirty="0"/>
          </a:p>
        </p:txBody>
      </p:sp>
      <p:sp>
        <p:nvSpPr>
          <p:cNvPr id="160" name="Text 158"/>
          <p:cNvSpPr/>
          <p:nvPr/>
        </p:nvSpPr>
        <p:spPr>
          <a:xfrm>
            <a:off x="3017520" y="443484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D5</a:t>
            </a:r>
            <a:endParaRPr lang="en-US" sz="950" dirty="0"/>
          </a:p>
        </p:txBody>
      </p:sp>
      <p:sp>
        <p:nvSpPr>
          <p:cNvPr id="161" name="Text 159"/>
          <p:cNvSpPr/>
          <p:nvPr/>
        </p:nvSpPr>
        <p:spPr>
          <a:xfrm>
            <a:off x="3840480" y="44348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Q4</a:t>
            </a:r>
            <a:endParaRPr lang="en-US" sz="950" dirty="0"/>
          </a:p>
        </p:txBody>
      </p:sp>
      <p:sp>
        <p:nvSpPr>
          <p:cNvPr id="162" name="Text 160"/>
          <p:cNvSpPr/>
          <p:nvPr/>
        </p:nvSpPr>
        <p:spPr>
          <a:xfrm>
            <a:off x="4453128" y="44348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可共建</a:t>
            </a:r>
            <a:endParaRPr lang="en-US" sz="950" dirty="0"/>
          </a:p>
        </p:txBody>
      </p:sp>
      <p:sp>
        <p:nvSpPr>
          <p:cNvPr id="163" name="Text 161"/>
          <p:cNvSpPr/>
          <p:nvPr/>
        </p:nvSpPr>
        <p:spPr>
          <a:xfrm>
            <a:off x="5623560" y="443484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+1</a:t>
            </a:r>
            <a:endParaRPr lang="en-US" sz="950" dirty="0"/>
          </a:p>
        </p:txBody>
      </p:sp>
      <p:sp>
        <p:nvSpPr>
          <p:cNvPr id="164" name="Text 162"/>
          <p:cNvSpPr/>
          <p:nvPr/>
        </p:nvSpPr>
        <p:spPr>
          <a:xfrm>
            <a:off x="6263640" y="44348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非代码贡献≥35%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路线图 · 关键里程碑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AI Native 社区规划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645920" cy="256032"/>
          </a:xfrm>
          <a:prstGeom prst="rect">
            <a:avLst>
              <a:gd name="adj" fmla="val 1785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  里程碑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2026年关键里程碑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54864" cy="5303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508760"/>
            <a:ext cx="256032" cy="25603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F46E5"/>
                </a:solidFill>
              </a:rPr>
              <a:t>2026-Q1末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77440" y="1444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核心项目 AI 友好度升级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48132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80% 核心项目有完整 CLAUDE.md；GFI 平均评分≥4/5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965960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965960"/>
            <a:ext cx="54864" cy="5303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103120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A5E9"/>
                </a:solidFill>
              </a:rPr>
              <a:t>2026-Q2初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377440" y="2039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新手引导页上线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66360" y="207568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新注册→首次贡献转化率提升 50%；引导完成率≥40%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560320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560320"/>
            <a:ext cx="54864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269748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2651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2026-Q2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377440" y="2633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第一次贡献马拉松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66360" y="267004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100+ 参与者；50+ 合并 PR；新人占比≥40%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154680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154680"/>
            <a:ext cx="54864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329184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3246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2026-Q3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377440" y="3227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AI Review Bot 全面覆盖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66360" y="326440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全部核心项目覆盖；PR 平均 Review 时间缩短 40%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749040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749040"/>
            <a:ext cx="54864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3886200"/>
            <a:ext cx="256032" cy="25603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840" y="3840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2026-Q3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377440" y="3822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年中开发者峰会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385876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300+ 到场；AI 辅助贡献专场；满意度≥4.2/5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4343400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4343400"/>
            <a:ext cx="54864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" y="4480560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5840" y="4434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2026-Q4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377440" y="4416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年度 AI Native 成熟度报告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166360" y="445312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公开发布；成熟度等级≥L4；可驱动 2027 规划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13E">
              <a:alpha val="60000"/>
            </a:srgbClr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6213E">
              <a:alpha val="70000"/>
            </a:srgbClr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749040"/>
            <a:ext cx="9144000" cy="1394460"/>
          </a:xfrm>
          <a:prstGeom prst="rect">
            <a:avLst/>
          </a:prstGeom>
          <a:solidFill>
            <a:srgbClr val="4F46E5">
              <a:alpha val="15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核心思想回顾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114800" cy="9601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1508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Native ≠ 研究 AI 工具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18928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社区主体是开源项目，AI 是服务开发者的手段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4114800" cy="9601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23560" y="1508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可发现·可应用·可共建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23560" y="18928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三支柱驱动从项目文档到新人留存的完整链路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4114800" cy="9601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3444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五维度成熟度模型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29900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评分直接对应季度行动，度量和运营形成闭环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2514600"/>
            <a:ext cx="4114800" cy="9601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62356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北极星：月新增首次贡献者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23560" y="29900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门槛降低 + 新开发者进入 + 留下来 = 目标达成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3886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5B4FC"/>
                </a:solidFill>
              </a:rPr>
              <a:t>让每一个 AI 时代的开发者，都能无摩擦地发现、理解并贡献社区的开源项目。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Native 开源社区战略规划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Native 开源社区战略规划 2026</dc:title>
  <dc:subject>PptxGenJS Presentation</dc:subject>
  <dc:creator>PptxGenJS</dc:creator>
  <cp:lastModifiedBy>PptxGenJS</cp:lastModifiedBy>
  <cp:revision>1</cp:revision>
  <dcterms:created xsi:type="dcterms:W3CDTF">2026-02-26T06:41:38Z</dcterms:created>
  <dcterms:modified xsi:type="dcterms:W3CDTF">2026-02-26T06:41:38Z</dcterms:modified>
</cp:coreProperties>
</file>